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미션 한 줄: 복지 안내 + 이상신호 감지 + 개인정보 로컬 보호.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수치로 문제의 규모를 보여준다. 여성·고령·고립이 핵심.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접근의 한계 → 우리 차별점(온디바이스/지역맞춤/대화형)의 근거.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장으로 시스템을 설명. 차별점=온디바이스.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데이터: ①출처(보건복지부 사업안내+대전 공개데이터 24파일) ②형식(PDF/CSV/XLS/XLSX/MD, HWP 향후) ③처리(정제→표구조화→섹션청킹→저품질제거→bge-m3→ChromaDB=3,455청크). 전 과정 로컬.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input→STT→라우팅→(Layer1 RAG / Layer2 이상신호)→LLM 답변+복지사 알림. 모든 처리는 로컬.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 대화 예시: 복지 Q&amp;A(문서 근거 기반) + 이상신호 감지→복지사 알림. 오른쪽에 응답 원칙과 성능(92%/거절 100%/+14%p).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현장 연계로 '진짜 사회적 임팩트 프로젝트'임을 보여준다.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주체별 변화 + 정량 KPI. 마지막 한 줄로 미션 재강조.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1단계 완료 강조, 나머지는 계획대로 진행 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정직한 한계 공개가 신뢰를 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F6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4389120"/>
            <a:ext cx="3840480" cy="3840480"/>
          </a:xfrm>
          <a:prstGeom prst="ellipse">
            <a:avLst/>
          </a:prstGeom>
          <a:solidFill>
            <a:srgbClr val="0A2352"/>
          </a:solidFill>
          <a:ln/>
        </p:spPr>
      </p:sp>
      <p:sp>
        <p:nvSpPr>
          <p:cNvPr id="3" name="Shape 1"/>
          <p:cNvSpPr/>
          <p:nvPr/>
        </p:nvSpPr>
        <p:spPr>
          <a:xfrm>
            <a:off x="10881360" y="5486400"/>
            <a:ext cx="1371600" cy="1371600"/>
          </a:xfrm>
          <a:prstGeom prst="ellipse">
            <a:avLst/>
          </a:prstGeom>
          <a:solidFill>
            <a:srgbClr val="E0A83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234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E0A8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대전광역시 · 온디바이스 AI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83080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독거노인 복지 안내 ·</a:t>
            </a:r>
            <a:endParaRPr lang="en-US" sz="5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이상신호 감지 AI</a:t>
            </a:r>
            <a:endParaRPr lang="en-US" sz="5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25196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어르신이 쉽게 묻고, 정확히 답 받고, 위험 신호는 자동 감지되는 복지 도우미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5074920"/>
            <a:ext cx="2926080" cy="0"/>
          </a:xfrm>
          <a:prstGeom prst="line">
            <a:avLst/>
          </a:prstGeom>
          <a:noFill/>
          <a:ln w="25400">
            <a:solidFill>
              <a:srgbClr val="E0A83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52120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발표자   민뚜쩌 · 박희재 · 오랑거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A8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PROBLEM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정의 — 왜 지금, 대전 독거노인인가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454298" cy="1783080"/>
          </a:xfrm>
          <a:prstGeom prst="roundRect">
            <a:avLst>
              <a:gd name="adj" fmla="val 4615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783080"/>
            <a:ext cx="30885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76,662명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578608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2025년 대전 독거노인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907792"/>
            <a:ext cx="30885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인구의 5.3%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68698" y="1600200"/>
            <a:ext cx="3454298" cy="1783080"/>
          </a:xfrm>
          <a:prstGeom prst="roundRect">
            <a:avLst>
              <a:gd name="adj" fmla="val 4615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551578" y="1783080"/>
            <a:ext cx="30885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+24.6%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4551578" y="2578608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2022년 대비 증가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51578" y="2907792"/>
            <a:ext cx="30885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3년간 15,135명 늘어남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88757" y="1600200"/>
            <a:ext cx="3454298" cy="1783080"/>
          </a:xfrm>
          <a:prstGeom prst="roundRect">
            <a:avLst>
              <a:gd name="adj" fmla="val 4615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371637" y="1783080"/>
            <a:ext cx="30885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65.8%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8371637" y="2578608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여성 비중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371637" y="2907792"/>
            <a:ext cx="30885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여성 50,426명 ≫ 남성 26,236명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611880"/>
            <a:ext cx="5364328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77240" y="37673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독거노인 비율 추이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68680" y="4754880"/>
            <a:ext cx="1005840" cy="320040"/>
          </a:xfrm>
          <a:prstGeom prst="roundRect">
            <a:avLst>
              <a:gd name="adj" fmla="val 11429"/>
            </a:avLst>
          </a:prstGeom>
          <a:solidFill>
            <a:srgbClr val="0F2F6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1520" y="4297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3.5%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510235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2020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468880" y="4343400"/>
            <a:ext cx="1005840" cy="731520"/>
          </a:xfrm>
          <a:prstGeom prst="roundRect">
            <a:avLst>
              <a:gd name="adj" fmla="val 5000"/>
            </a:avLst>
          </a:prstGeom>
          <a:solidFill>
            <a:srgbClr val="0F2F6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331720" y="38862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4.2%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2331720" y="510235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2022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069080" y="3931920"/>
            <a:ext cx="1005840" cy="1143000"/>
          </a:xfrm>
          <a:prstGeom prst="roundRect">
            <a:avLst>
              <a:gd name="adj" fmla="val 3636"/>
            </a:avLst>
          </a:prstGeom>
          <a:solidFill>
            <a:srgbClr val="E0A83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931920" y="34747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5.3%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3931920" y="510235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278728" y="3611880"/>
            <a:ext cx="5364328" cy="1691640"/>
          </a:xfrm>
          <a:prstGeom prst="roundRect">
            <a:avLst>
              <a:gd name="adj" fmla="val 4865"/>
            </a:avLst>
          </a:prstGeom>
          <a:solidFill>
            <a:srgbClr val="FBF3E3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6507328" y="376732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리스크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6507328" y="4160520"/>
            <a:ext cx="490712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응급상황을 즉시 인지할 보호자·시스템 부재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복지 정보 접근성 부족 (디지털 문해력 낮음)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대전광역시 사회지표 (daejeon.go.kr)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A8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해결책의 한계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454298" cy="3200400"/>
          </a:xfrm>
          <a:prstGeom prst="roundRect">
            <a:avLst>
              <a:gd name="adj" fmla="val 2571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874520"/>
            <a:ext cx="566928" cy="566928"/>
          </a:xfrm>
          <a:prstGeom prst="ellipse">
            <a:avLst/>
          </a:prstGeom>
          <a:solidFill>
            <a:srgbClr val="0F2F6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4672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874520"/>
            <a:ext cx="2357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인력 기반 서비스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2240280"/>
            <a:ext cx="2357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노인맞춤돌봄 · 요양보호사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905658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인력 부족이 구조적으로 고착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2043년까지 최대 99만 명 추가 필요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고용 불안정 → 서비스 질 저하·도농 격차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68698" y="1645920"/>
            <a:ext cx="3454298" cy="3200400"/>
          </a:xfrm>
          <a:prstGeom prst="roundRect">
            <a:avLst>
              <a:gd name="adj" fmla="val 2571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24730" y="1874520"/>
            <a:ext cx="566928" cy="566928"/>
          </a:xfrm>
          <a:prstGeom prst="ellipse">
            <a:avLst/>
          </a:prstGeom>
          <a:solidFill>
            <a:srgbClr val="0F2F6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2473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328818" y="1874520"/>
            <a:ext cx="2357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AI 돌봄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328818" y="2240280"/>
            <a:ext cx="2357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 케어콜 · 네이버 클로바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643018" y="2697480"/>
            <a:ext cx="2905658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클라우드 기반 → 개인정보 보안 이슈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범용 스크립트 → 지역 맞춤 미반영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 '말벗' 수준, 복지 안내 부족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188757" y="1645920"/>
            <a:ext cx="3454298" cy="3200400"/>
          </a:xfrm>
          <a:prstGeom prst="roundRect">
            <a:avLst>
              <a:gd name="adj" fmla="val 2571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44789" y="1874520"/>
            <a:ext cx="566928" cy="566928"/>
          </a:xfrm>
          <a:prstGeom prst="ellipse">
            <a:avLst/>
          </a:prstGeom>
          <a:solidFill>
            <a:srgbClr val="0F2F6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44789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148877" y="1874520"/>
            <a:ext cx="2357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웹·앱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9148877" y="2240280"/>
            <a:ext cx="2357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복지로 등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463077" y="2697480"/>
            <a:ext cx="2905658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위주 UI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디지털 문해력 낮은 고령층에 부적합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접근·이용률 낮음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48640" y="5120640"/>
            <a:ext cx="11094415" cy="914400"/>
          </a:xfrm>
          <a:prstGeom prst="roundRect">
            <a:avLst>
              <a:gd name="adj" fmla="val 8000"/>
            </a:avLst>
          </a:prstGeom>
          <a:solidFill>
            <a:srgbClr val="0F2F6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4400" y="512064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A8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  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인력만으로는 근본 해결 불가 → 지역 맞춤 · 개인정보 보호형 기술적 보완이 필요하다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A8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개요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온디바이스 LLM 기반 독거노인 복지정보 안내 및 이상징후 감지 시스템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5364328" cy="1554480"/>
          </a:xfrm>
          <a:prstGeom prst="roundRect">
            <a:avLst>
              <a:gd name="adj" fmla="val 5294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212848"/>
            <a:ext cx="548640" cy="548640"/>
          </a:xfrm>
          <a:prstGeom prst="ellipse">
            <a:avLst/>
          </a:prstGeom>
          <a:solidFill>
            <a:srgbClr val="E0A83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2128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2212848"/>
            <a:ext cx="4267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복지 정보 대화형 안내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788920"/>
            <a:ext cx="47242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Local LLM + RAG 로 대전 복지 정보를 문서 근거 기반으로 안내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78728" y="1965960"/>
            <a:ext cx="5364328" cy="1554480"/>
          </a:xfrm>
          <a:prstGeom prst="roundRect">
            <a:avLst>
              <a:gd name="adj" fmla="val 5294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53048" y="2212848"/>
            <a:ext cx="548640" cy="548640"/>
          </a:xfrm>
          <a:prstGeom prst="ellipse">
            <a:avLst/>
          </a:prstGeom>
          <a:solidFill>
            <a:srgbClr val="E0A83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53048" y="22128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238848" y="2212848"/>
            <a:ext cx="4267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이상징후 감지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598768" y="2788920"/>
            <a:ext cx="47242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 패턴 기반으로 이상징후를 감지해 사회복지사에게 알림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703320"/>
            <a:ext cx="11094415" cy="960120"/>
          </a:xfrm>
          <a:prstGeom prst="roundRect">
            <a:avLst>
              <a:gd name="adj" fmla="val 7619"/>
            </a:avLst>
          </a:prstGeom>
          <a:solidFill>
            <a:srgbClr val="FBF3E3"/>
          </a:solidFill>
          <a:ln w="12700">
            <a:solidFill>
              <a:srgbClr val="E0A8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3703320"/>
            <a:ext cx="103628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기술적 차별점   </a:t>
            </a:r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온디바이스(비클라우드) → 개인정보 보안 강화 · 오프라인 환경에서도 작동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48640" y="4846320"/>
            <a:ext cx="5364328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22960" y="4983480"/>
            <a:ext cx="4815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타겟 사용자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5321808"/>
            <a:ext cx="48156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대전 독거노인 · 가족 · 사회복지사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278728" y="4846320"/>
            <a:ext cx="5364328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553048" y="4983480"/>
            <a:ext cx="4815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기대효과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553048" y="5321808"/>
            <a:ext cx="48156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응급상황 조기 발견 · 복지 정보 접근성 향상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A8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— 무엇을 · 어떤 형식으로 · 어떻게 처리했나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5532120" cy="2148840"/>
          </a:xfrm>
          <a:prstGeom prst="roundRect">
            <a:avLst>
              <a:gd name="adj" fmla="val 3830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1773936"/>
            <a:ext cx="457200" cy="457200"/>
          </a:xfrm>
          <a:prstGeom prst="ellipse">
            <a:avLst/>
          </a:prstGeom>
          <a:solidFill>
            <a:srgbClr val="0F2F6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773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77393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출처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322576"/>
            <a:ext cx="4946904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보건복지부 「2025 노인보건복지 사업안내」 1·2권 (정책 원문)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대전시 구별 노인복지시설 현황 — 요양·주야간보호·복지관·경로당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대전 노인맞춤돌봄 · 재가노인 식사배달 현황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3328416"/>
            <a:ext cx="4946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모두 공공기관 공개데이터 · 총 24개 파일 (개인정보 없음)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46520" y="1572768"/>
            <a:ext cx="5196535" cy="2148840"/>
          </a:xfrm>
          <a:prstGeom prst="roundRect">
            <a:avLst>
              <a:gd name="adj" fmla="val 3830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665976" y="1773936"/>
            <a:ext cx="457200" cy="457200"/>
          </a:xfrm>
          <a:prstGeom prst="ellipse">
            <a:avLst/>
          </a:prstGeom>
          <a:solidFill>
            <a:srgbClr val="0F2F6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65976" y="1773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269480" y="1773936"/>
            <a:ext cx="4190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형식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739128" y="2359152"/>
            <a:ext cx="22142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E0A8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85432" y="2414016"/>
            <a:ext cx="19216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PDF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85432" y="2660904"/>
            <a:ext cx="19216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 원문 · 스캔 OCR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136228" y="2359152"/>
            <a:ext cx="22142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E0A8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82532" y="2414016"/>
            <a:ext cx="19216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CSV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9282532" y="2660904"/>
            <a:ext cx="19216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돌봄 · 식사배달 현황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739128" y="3054096"/>
            <a:ext cx="22142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E0A8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85432" y="3108960"/>
            <a:ext cx="19216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XLS / XLSX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885432" y="3355848"/>
            <a:ext cx="19216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구별 시설 현황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9136228" y="3054096"/>
            <a:ext cx="22142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E0A83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282532" y="3108960"/>
            <a:ext cx="19216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MD / TXT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9282532" y="3355848"/>
            <a:ext cx="19216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문서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6739128" y="3383280"/>
            <a:ext cx="46113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A9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HWP(한글 문서)는 현재 PDF로 대체 · 향후 지원 예정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66928" y="4069080"/>
            <a:ext cx="457200" cy="457200"/>
          </a:xfrm>
          <a:prstGeom prst="ellipse">
            <a:avLst/>
          </a:prstGeom>
          <a:solidFill>
            <a:srgbClr val="0F2F6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66928" y="4069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1143000" y="4069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처리 파이프라인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548640" y="4736592"/>
            <a:ext cx="1487363" cy="914400"/>
          </a:xfrm>
          <a:prstGeom prst="roundRect">
            <a:avLst>
              <a:gd name="adj" fmla="val 7000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03504" y="4882896"/>
            <a:ext cx="13776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정제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03504" y="5212080"/>
            <a:ext cx="13776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머리말·쪽번호 제거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2036003" y="5193792"/>
            <a:ext cx="310896" cy="0"/>
          </a:xfrm>
          <a:prstGeom prst="line">
            <a:avLst/>
          </a:prstGeom>
          <a:noFill/>
          <a:ln w="31750">
            <a:solidFill>
              <a:srgbClr val="E0A83C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2346899" y="4736592"/>
            <a:ext cx="1487363" cy="914400"/>
          </a:xfrm>
          <a:prstGeom prst="roundRect">
            <a:avLst>
              <a:gd name="adj" fmla="val 7000"/>
            </a:avLst>
          </a:prstGeom>
          <a:solidFill>
            <a:srgbClr val="EAF0FA"/>
          </a:solidFill>
          <a:ln w="12700">
            <a:solidFill>
              <a:srgbClr val="D8E0EC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401763" y="4882896"/>
            <a:ext cx="13776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 구조화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2401763" y="5212080"/>
            <a:ext cx="13776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헤더 인식 → 컬럼:값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834262" y="5193792"/>
            <a:ext cx="310896" cy="0"/>
          </a:xfrm>
          <a:prstGeom prst="line">
            <a:avLst/>
          </a:prstGeom>
          <a:noFill/>
          <a:ln w="31750">
            <a:solidFill>
              <a:srgbClr val="E0A83C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4145158" y="4736592"/>
            <a:ext cx="1487363" cy="914400"/>
          </a:xfrm>
          <a:prstGeom prst="roundRect">
            <a:avLst>
              <a:gd name="adj" fmla="val 7000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200022" y="4882896"/>
            <a:ext cx="13776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섹션 청킹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200022" y="5212080"/>
            <a:ext cx="13776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복지 항목 단위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632521" y="5193792"/>
            <a:ext cx="310896" cy="0"/>
          </a:xfrm>
          <a:prstGeom prst="line">
            <a:avLst/>
          </a:prstGeom>
          <a:noFill/>
          <a:ln w="31750">
            <a:solidFill>
              <a:srgbClr val="E0A83C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5943417" y="4736592"/>
            <a:ext cx="1487363" cy="914400"/>
          </a:xfrm>
          <a:prstGeom prst="roundRect">
            <a:avLst>
              <a:gd name="adj" fmla="val 7000"/>
            </a:avLst>
          </a:prstGeom>
          <a:solidFill>
            <a:srgbClr val="EAF0FA"/>
          </a:solidFill>
          <a:ln w="12700">
            <a:solidFill>
              <a:srgbClr val="D8E0E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998281" y="4882896"/>
            <a:ext cx="13776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저품질 제거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5998281" y="5212080"/>
            <a:ext cx="13776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노이즈 청크 삭제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430780" y="5193792"/>
            <a:ext cx="310896" cy="0"/>
          </a:xfrm>
          <a:prstGeom prst="line">
            <a:avLst/>
          </a:prstGeom>
          <a:noFill/>
          <a:ln w="31750">
            <a:solidFill>
              <a:srgbClr val="E0A83C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7741676" y="4736592"/>
            <a:ext cx="1487363" cy="914400"/>
          </a:xfrm>
          <a:prstGeom prst="roundRect">
            <a:avLst>
              <a:gd name="adj" fmla="val 7000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796540" y="4882896"/>
            <a:ext cx="13776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임베딩·색인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7796540" y="5212080"/>
            <a:ext cx="13776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bge-m3 → ChromaDB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9229039" y="5193792"/>
            <a:ext cx="310896" cy="0"/>
          </a:xfrm>
          <a:prstGeom prst="line">
            <a:avLst/>
          </a:prstGeom>
          <a:noFill/>
          <a:ln w="31750">
            <a:solidFill>
              <a:srgbClr val="E0A83C"/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9539935" y="4736592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0F2F6F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9539935" y="4736592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0A8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3,455개
</a:t>
            </a:r>
            <a:endParaRPr lang="en-US" sz="24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색인 청크</a:t>
            </a:r>
            <a:endParaRPr lang="en-US" sz="2400" dirty="0"/>
          </a:p>
        </p:txBody>
      </p:sp>
      <p:sp>
        <p:nvSpPr>
          <p:cNvPr id="52" name="Text 50"/>
          <p:cNvSpPr txBox="1"/>
          <p:nvPr/>
        </p:nvSpPr>
        <p:spPr>
          <a:xfrm>
            <a:off x="548640" y="5989320"/>
            <a:ext cx="11094415" cy="411480"/>
          </a:xfrm>
          <a:prstGeom prst="rect">
            <a:avLst/>
          </a:prstGeom>
          <a:solidFill>
            <a:srgbClr val="F4F7FC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🔒  문서 색인·검색 전 과정 로컬 실행 — 대화 데이터는 외부로 전송되지 않습니다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A8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ARCHITECTURE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아키텍처 — 모두 기기 안에서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377440" cy="658368"/>
          </a:xfrm>
          <a:prstGeom prst="roundRect">
            <a:avLst>
              <a:gd name="adj" fmla="val 9722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60020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(음성·문자)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2926080" y="1929384"/>
            <a:ext cx="457200" cy="0"/>
          </a:xfrm>
          <a:prstGeom prst="line">
            <a:avLst/>
          </a:prstGeom>
          <a:noFill/>
          <a:ln w="31750">
            <a:solidFill>
              <a:srgbClr val="E0A83C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383280" y="1600200"/>
            <a:ext cx="2194560" cy="658368"/>
          </a:xfrm>
          <a:prstGeom prst="roundRect">
            <a:avLst>
              <a:gd name="adj" fmla="val 9722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74720" y="1600200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STT (Whisper)</a:t>
            </a:r>
            <a:endParaRPr lang="en-US" sz="13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음성인식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577840" y="1929384"/>
            <a:ext cx="457200" cy="0"/>
          </a:xfrm>
          <a:prstGeom prst="line">
            <a:avLst/>
          </a:prstGeom>
          <a:noFill/>
          <a:ln w="31750">
            <a:solidFill>
              <a:srgbClr val="E0A83C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035040" y="1600200"/>
            <a:ext cx="2743200" cy="658368"/>
          </a:xfrm>
          <a:prstGeom prst="roundRect">
            <a:avLst>
              <a:gd name="adj" fmla="val 9722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26480" y="1600200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라우팅</a:t>
            </a:r>
            <a:endParaRPr lang="en-US" sz="13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인사·잡담 vs 복지 질문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2377440" y="2258568"/>
            <a:ext cx="0" cy="530352"/>
          </a:xfrm>
          <a:prstGeom prst="line">
            <a:avLst/>
          </a:prstGeom>
          <a:noFill/>
          <a:ln w="31750">
            <a:solidFill>
              <a:srgbClr val="E0A83C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707728" y="2258568"/>
            <a:ext cx="0" cy="530352"/>
          </a:xfrm>
          <a:prstGeom prst="line">
            <a:avLst/>
          </a:prstGeom>
          <a:noFill/>
          <a:ln w="31750">
            <a:solidFill>
              <a:srgbClr val="E0A83C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48640" y="2788920"/>
            <a:ext cx="6766560" cy="1874520"/>
          </a:xfrm>
          <a:prstGeom prst="roundRect">
            <a:avLst>
              <a:gd name="adj" fmla="val 3902"/>
            </a:avLst>
          </a:prstGeom>
          <a:solidFill>
            <a:srgbClr val="EAF0FA"/>
          </a:solidFill>
          <a:ln w="15240">
            <a:solidFill>
              <a:srgbClr val="0F2F6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2898648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Layer 1 · 복지 안내 (RAG)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3246120"/>
            <a:ext cx="62179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정제 → 섹션 청킹 → bge-m3 임베딩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ChromaDB 후보 10 → cross-encoder 재랭킹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관련성 게이트 → 상위 3개 근거 선택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772400" y="2788920"/>
            <a:ext cx="3870655" cy="1874520"/>
          </a:xfrm>
          <a:prstGeom prst="roundRect">
            <a:avLst>
              <a:gd name="adj" fmla="val 3902"/>
            </a:avLst>
          </a:prstGeom>
          <a:solidFill>
            <a:srgbClr val="FBF3E3"/>
          </a:solidFill>
          <a:ln w="15240">
            <a:solidFill>
              <a:srgbClr val="E0A8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001000" y="2898648"/>
            <a:ext cx="34134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Layer 2 · 이상신호 감지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046720" y="3246120"/>
            <a:ext cx="3322015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증상 반복 카운트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부정 감정 점수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baseline 대비 변화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2377440" y="4663440"/>
            <a:ext cx="0" cy="365760"/>
          </a:xfrm>
          <a:prstGeom prst="line">
            <a:avLst/>
          </a:prstGeom>
          <a:noFill/>
          <a:ln w="31750">
            <a:solidFill>
              <a:srgbClr val="E0A83C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707728" y="4663440"/>
            <a:ext cx="0" cy="365760"/>
          </a:xfrm>
          <a:prstGeom prst="line">
            <a:avLst/>
          </a:prstGeom>
          <a:noFill/>
          <a:ln w="31750">
            <a:solidFill>
              <a:srgbClr val="E0A83C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48640" y="5029200"/>
            <a:ext cx="6766560" cy="685800"/>
          </a:xfrm>
          <a:prstGeom prst="roundRect">
            <a:avLst>
              <a:gd name="adj" fmla="val 9333"/>
            </a:avLst>
          </a:prstGeom>
          <a:solidFill>
            <a:srgbClr val="0F2F6F"/>
          </a:solidFill>
          <a:ln w="12700">
            <a:solidFill>
              <a:srgbClr val="D8E0E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0080" y="502920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LLM (EXAONE 3.5)</a:t>
            </a:r>
            <a:endParaRPr lang="en-US" sz="13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근거로만 한국어 답변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7772400" y="5029200"/>
            <a:ext cx="3870655" cy="685800"/>
          </a:xfrm>
          <a:prstGeom prst="roundRect">
            <a:avLst>
              <a:gd name="adj" fmla="val 9333"/>
            </a:avLst>
          </a:prstGeom>
          <a:solidFill>
            <a:srgbClr val="E0A83C"/>
          </a:solidFill>
          <a:ln w="12700">
            <a:solidFill>
              <a:srgbClr val="D8E0E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863840" y="5029200"/>
            <a:ext cx="3687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사회복지사 알림 요약</a:t>
            </a:r>
            <a:endParaRPr lang="en-US" sz="13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이상신호 감지 시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5943600"/>
            <a:ext cx="11094415" cy="457200"/>
          </a:xfrm>
          <a:prstGeom prst="rect">
            <a:avLst/>
          </a:prstGeom>
          <a:solidFill>
            <a:srgbClr val="EAF0FA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🔒  전 과정 로컬 · 대화는 기기·가정 네트워크를 벗어나지 않습니다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A8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DEMO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기능 데모 — 실제 대화 예시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36192"/>
            <a:ext cx="6812280" cy="4553712"/>
          </a:xfrm>
          <a:prstGeom prst="roundRect">
            <a:avLst>
              <a:gd name="adj" fmla="val 1807"/>
            </a:avLst>
          </a:prstGeom>
          <a:solidFill>
            <a:srgbClr val="F7FA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04672" y="1664208"/>
            <a:ext cx="6300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💬  어르신  ↔  복지 도우미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447288" y="2121408"/>
            <a:ext cx="3657600" cy="457200"/>
          </a:xfrm>
          <a:prstGeom prst="roundRect">
            <a:avLst>
              <a:gd name="adj" fmla="val 18000"/>
            </a:avLst>
          </a:prstGeom>
          <a:solidFill>
            <a:srgbClr val="0F2F6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593592" y="2121408"/>
            <a:ext cx="3364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기초연금은 어떻게 신청하나요?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804672" y="2688336"/>
            <a:ext cx="4892040" cy="969264"/>
          </a:xfrm>
          <a:prstGeom prst="roundRect">
            <a:avLst>
              <a:gd name="adj" fmla="val 8491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69264" y="2706624"/>
            <a:ext cx="456285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 65세 이상이시면 신분증과 통장 사본을 가지고 가까운 주민센터나 국민연금공단에서 신청하실 수 있어요.
</a:t>
            </a:r>
            <a:endParaRPr lang="en-US" sz="1250" dirty="0"/>
          </a:p>
          <a:p>
            <a:pPr indent="0" marL="0">
              <a:buNone/>
            </a:pPr>
            <a:r>
              <a:rPr lang="en-US" sz="950" i="1" dirty="0">
                <a:solidFill>
                  <a:srgbClr val="B88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📄 문서 근거 기반 응답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944368" y="3803904"/>
            <a:ext cx="4160520" cy="457200"/>
          </a:xfrm>
          <a:prstGeom prst="roundRect">
            <a:avLst>
              <a:gd name="adj" fmla="val 18000"/>
            </a:avLst>
          </a:prstGeom>
          <a:solidFill>
            <a:srgbClr val="0F2F6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090672" y="3803904"/>
            <a:ext cx="3867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무릎도 아프고 혼자라 외롭고 우울해요…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4672" y="4370832"/>
            <a:ext cx="4663440" cy="749808"/>
          </a:xfrm>
          <a:prstGeom prst="roundRect">
            <a:avLst>
              <a:gd name="adj" fmla="val 10976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9264" y="4389120"/>
            <a:ext cx="43342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많이 힘드셨겠어요. 혼자 견디지 마시고 가까운 정신건강복지센터나 주민센터에 편히 연락해 보세요.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4672" y="5230368"/>
            <a:ext cx="5852160" cy="502920"/>
          </a:xfrm>
          <a:prstGeom prst="roundRect">
            <a:avLst>
              <a:gd name="adj" fmla="val 14545"/>
            </a:avLst>
          </a:prstGeom>
          <a:solidFill>
            <a:srgbClr val="E0A83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04672" y="5230368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23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🚨  이상신호 감지  →  사회복지사에게 알림 전송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744968" y="1572768"/>
            <a:ext cx="38980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답하는 방식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744968" y="2048256"/>
            <a:ext cx="38980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근거로만 정확히 답변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744968" y="2596896"/>
            <a:ext cx="38980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모르면 지어내지 않고 주민센터 안내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744968" y="3145536"/>
            <a:ext cx="38980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 신호는 자동 감지·알림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744968" y="3822192"/>
            <a:ext cx="3898087" cy="640080"/>
          </a:xfrm>
          <a:prstGeom prst="roundRect">
            <a:avLst>
              <a:gd name="adj" fmla="val 12857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927848" y="3822192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92%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9482328" y="3822192"/>
            <a:ext cx="197784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정답률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744968" y="4572000"/>
            <a:ext cx="3898087" cy="640080"/>
          </a:xfrm>
          <a:prstGeom prst="roundRect">
            <a:avLst>
              <a:gd name="adj" fmla="val 12857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7927848" y="45720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100%</a:t>
            </a:r>
            <a:endParaRPr lang="en-US" sz="2400" dirty="0"/>
          </a:p>
        </p:txBody>
      </p:sp>
      <p:sp>
        <p:nvSpPr>
          <p:cNvPr id="25" name="Text 23"/>
          <p:cNvSpPr txBox="1"/>
          <p:nvPr/>
        </p:nvSpPr>
        <p:spPr>
          <a:xfrm>
            <a:off x="9482328" y="4572000"/>
            <a:ext cx="197784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 밖 거절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744968" y="5321808"/>
            <a:ext cx="3898087" cy="640080"/>
          </a:xfrm>
          <a:prstGeom prst="roundRect">
            <a:avLst>
              <a:gd name="adj" fmla="val 12857"/>
            </a:avLst>
          </a:prstGeom>
          <a:solidFill>
            <a:srgbClr val="FBF3E3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7927848" y="532180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88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+14%p</a:t>
            </a:r>
            <a:endParaRPr lang="en-US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9482328" y="5321808"/>
            <a:ext cx="197784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재랭킹 효과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A8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COMMUNITY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 연계 방안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누구와 연결되나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5760720" cy="822960"/>
          </a:xfrm>
          <a:prstGeom prst="roundRect">
            <a:avLst>
              <a:gd name="adj" fmla="val 10000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2231136"/>
            <a:ext cx="475488" cy="475488"/>
          </a:xfrm>
          <a:prstGeom prst="ellipse">
            <a:avLst/>
          </a:prstGeom>
          <a:solidFill>
            <a:srgbClr val="0F2F6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22311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167128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주민센터 · 구청 노인복지과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49631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신청·상담 연결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017520"/>
            <a:ext cx="5760720" cy="822960"/>
          </a:xfrm>
          <a:prstGeom prst="roundRect">
            <a:avLst>
              <a:gd name="adj" fmla="val 10000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77240" y="3191256"/>
            <a:ext cx="475488" cy="475488"/>
          </a:xfrm>
          <a:prstGeom prst="ellipse">
            <a:avLst/>
          </a:prstGeom>
          <a:solidFill>
            <a:srgbClr val="0F2F6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319125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3127248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사회복지사 · 생활지원사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345643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이상신호 알림 → 방문·전화 대응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977640"/>
            <a:ext cx="5760720" cy="822960"/>
          </a:xfrm>
          <a:prstGeom prst="roundRect">
            <a:avLst>
              <a:gd name="adj" fmla="val 10000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4151376"/>
            <a:ext cx="475488" cy="475488"/>
          </a:xfrm>
          <a:prstGeom prst="ellipse">
            <a:avLst/>
          </a:prstGeom>
          <a:solidFill>
            <a:srgbClr val="0F2F6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77240" y="41513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4087368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치매안심센터 · 보건소 · 노인복지관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441655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안내 연계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766560" y="2057400"/>
            <a:ext cx="4876495" cy="1417320"/>
          </a:xfrm>
          <a:prstGeom prst="roundRect">
            <a:avLst>
              <a:gd name="adj" fmla="val 5806"/>
            </a:avLst>
          </a:prstGeom>
          <a:solidFill>
            <a:srgbClr val="EAF0FA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040880" y="2194560"/>
            <a:ext cx="43278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방식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040880" y="2542032"/>
            <a:ext cx="432785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경로당·복지관에 허브(태블릿·미니PC) 배치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어르신은 같은 WiFi로 접속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구청 협조로 지역 데이터 주기적 갱신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766560" y="3611880"/>
            <a:ext cx="4876495" cy="1417320"/>
          </a:xfrm>
          <a:prstGeom prst="roundRect">
            <a:avLst>
              <a:gd name="adj" fmla="val 5806"/>
            </a:avLst>
          </a:prstGeom>
          <a:solidFill>
            <a:srgbClr val="FBF3E3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7040880" y="3749040"/>
            <a:ext cx="43278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지속가능한가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040880" y="4096512"/>
            <a:ext cx="432785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클라우드 비용 없음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 부담 낮음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지자체가 적은 부담으로 도입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2F6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A8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IMPACT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사회적 임팩트 — 누구에게 어떤 변화를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454298" cy="3108960"/>
          </a:xfrm>
          <a:prstGeom prst="roundRect">
            <a:avLst>
              <a:gd name="adj" fmla="val 2647"/>
            </a:avLst>
          </a:prstGeom>
          <a:solidFill>
            <a:srgbClr val="0A2352"/>
          </a:solidFill>
          <a:ln w="12700">
            <a:solidFill>
              <a:srgbClr val="24407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057400"/>
            <a:ext cx="2905658" cy="502920"/>
          </a:xfrm>
          <a:prstGeom prst="roundRect">
            <a:avLst>
              <a:gd name="adj" fmla="val 10909"/>
            </a:avLst>
          </a:prstGeom>
          <a:solidFill>
            <a:srgbClr val="E0A83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057400"/>
            <a:ext cx="2905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3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어르신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743200"/>
            <a:ext cx="2814218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6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복지 정보 접근성 향상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6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응급상황 조기 대응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6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외로움·고립 완화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4368698" y="1783080"/>
            <a:ext cx="3454298" cy="3108960"/>
          </a:xfrm>
          <a:prstGeom prst="roundRect">
            <a:avLst>
              <a:gd name="adj" fmla="val 2647"/>
            </a:avLst>
          </a:prstGeom>
          <a:solidFill>
            <a:srgbClr val="0A2352"/>
          </a:solidFill>
          <a:ln w="12700">
            <a:solidFill>
              <a:srgbClr val="24407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43018" y="2057400"/>
            <a:ext cx="2905658" cy="502920"/>
          </a:xfrm>
          <a:prstGeom prst="roundRect">
            <a:avLst>
              <a:gd name="adj" fmla="val 10909"/>
            </a:avLst>
          </a:prstGeom>
          <a:solidFill>
            <a:srgbClr val="E0A83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43018" y="2057400"/>
            <a:ext cx="2905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3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사회복지사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688738" y="2743200"/>
            <a:ext cx="2814218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6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 징후 조기 파악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6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한정된 인력의 선택과 집중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6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우선 방문 대상 식별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8188757" y="1783080"/>
            <a:ext cx="3454298" cy="3108960"/>
          </a:xfrm>
          <a:prstGeom prst="roundRect">
            <a:avLst>
              <a:gd name="adj" fmla="val 2647"/>
            </a:avLst>
          </a:prstGeom>
          <a:solidFill>
            <a:srgbClr val="0A2352"/>
          </a:solidFill>
          <a:ln w="12700">
            <a:solidFill>
              <a:srgbClr val="24407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63077" y="2057400"/>
            <a:ext cx="2905658" cy="502920"/>
          </a:xfrm>
          <a:prstGeom prst="roundRect">
            <a:avLst>
              <a:gd name="adj" fmla="val 10909"/>
            </a:avLst>
          </a:prstGeom>
          <a:solidFill>
            <a:srgbClr val="E0A83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463077" y="2057400"/>
            <a:ext cx="2905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3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지자체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508797" y="2743200"/>
            <a:ext cx="2814218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6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복지 사각지대 축소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6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고독사 예방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6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저비용으로 확산 가능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25780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i="1" dirty="0">
                <a:solidFill>
                  <a:srgbClr val="E0A8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“혼자가 아니라고 느끼게 하는 기술”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A8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ROADMAP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현황과 계획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484778" cy="1325880"/>
          </a:xfrm>
          <a:prstGeom prst="roundRect">
            <a:avLst>
              <a:gd name="adj" fmla="val 6207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920240"/>
            <a:ext cx="548640" cy="548640"/>
          </a:xfrm>
          <a:prstGeom prst="ellipse">
            <a:avLst/>
          </a:prstGeom>
          <a:solidFill>
            <a:srgbClr val="0F2F6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4672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874520"/>
            <a:ext cx="23417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대화 (RAG Q&amp;A)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822960" y="2532888"/>
            <a:ext cx="1051560" cy="292608"/>
          </a:xfrm>
          <a:prstGeom prst="roundRect">
            <a:avLst>
              <a:gd name="adj" fmla="val 15625"/>
            </a:avLst>
          </a:prstGeom>
          <a:solidFill>
            <a:srgbClr val="2E7D4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253288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965960" y="2514600"/>
            <a:ext cx="1884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 · 오늘 발표 핵심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53458" y="1691640"/>
            <a:ext cx="3484778" cy="1325880"/>
          </a:xfrm>
          <a:prstGeom prst="roundRect">
            <a:avLst>
              <a:gd name="adj" fmla="val 6207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09490" y="1920240"/>
            <a:ext cx="548640" cy="548640"/>
          </a:xfrm>
          <a:prstGeom prst="ellipse">
            <a:avLst/>
          </a:prstGeom>
          <a:solidFill>
            <a:srgbClr val="0F2F6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0949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313578" y="1874520"/>
            <a:ext cx="23417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이상신호 감지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4627778" y="2532888"/>
            <a:ext cx="1051560" cy="292608"/>
          </a:xfrm>
          <a:prstGeom prst="roundRect">
            <a:avLst>
              <a:gd name="adj" fmla="val 15625"/>
            </a:avLst>
          </a:prstGeom>
          <a:solidFill>
            <a:srgbClr val="2E7D4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627778" y="253288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770778" y="2514600"/>
            <a:ext cx="1884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(고도화 예정)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158277" y="1691640"/>
            <a:ext cx="3484778" cy="1325880"/>
          </a:xfrm>
          <a:prstGeom prst="roundRect">
            <a:avLst>
              <a:gd name="adj" fmla="val 6207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414309" y="1920240"/>
            <a:ext cx="548640" cy="548640"/>
          </a:xfrm>
          <a:prstGeom prst="ellipse">
            <a:avLst/>
          </a:prstGeom>
          <a:solidFill>
            <a:srgbClr val="0F2F6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414309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118397" y="1874520"/>
            <a:ext cx="23417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기능 융합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8432597" y="2532888"/>
            <a:ext cx="1051560" cy="292608"/>
          </a:xfrm>
          <a:prstGeom prst="roundRect">
            <a:avLst>
              <a:gd name="adj" fmla="val 15625"/>
            </a:avLst>
          </a:prstGeom>
          <a:solidFill>
            <a:srgbClr val="2E7D4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432597" y="253288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575597" y="2514600"/>
            <a:ext cx="1884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 완료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" y="3246120"/>
            <a:ext cx="3484778" cy="1325880"/>
          </a:xfrm>
          <a:prstGeom prst="roundRect">
            <a:avLst>
              <a:gd name="adj" fmla="val 6207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04672" y="3474720"/>
            <a:ext cx="548640" cy="548640"/>
          </a:xfrm>
          <a:prstGeom prst="ellipse">
            <a:avLst/>
          </a:prstGeom>
          <a:solidFill>
            <a:srgbClr val="0F2F6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04672" y="3474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508760" y="3429000"/>
            <a:ext cx="23417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음성 대화 (STT·TTS)</a:t>
            </a:r>
            <a:endParaRPr lang="en-US" sz="1450" dirty="0"/>
          </a:p>
        </p:txBody>
      </p:sp>
      <p:sp>
        <p:nvSpPr>
          <p:cNvPr id="29" name="Shape 27"/>
          <p:cNvSpPr/>
          <p:nvPr/>
        </p:nvSpPr>
        <p:spPr>
          <a:xfrm>
            <a:off x="822960" y="4087368"/>
            <a:ext cx="1051560" cy="292608"/>
          </a:xfrm>
          <a:prstGeom prst="roundRect">
            <a:avLst>
              <a:gd name="adj" fmla="val 15625"/>
            </a:avLst>
          </a:prstGeom>
          <a:solidFill>
            <a:srgbClr val="E0A83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2960" y="408736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진행중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1965960" y="4069080"/>
            <a:ext cx="1884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 구현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353458" y="3246120"/>
            <a:ext cx="3484778" cy="1325880"/>
          </a:xfrm>
          <a:prstGeom prst="roundRect">
            <a:avLst>
              <a:gd name="adj" fmla="val 6207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609490" y="3474720"/>
            <a:ext cx="548640" cy="548640"/>
          </a:xfrm>
          <a:prstGeom prst="ellipse">
            <a:avLst/>
          </a:prstGeom>
          <a:solidFill>
            <a:srgbClr val="0F2F6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609490" y="3474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5313578" y="3429000"/>
            <a:ext cx="23417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UI/UX (모바일·PWA)</a:t>
            </a:r>
            <a:endParaRPr lang="en-US" sz="1450" dirty="0"/>
          </a:p>
        </p:txBody>
      </p:sp>
      <p:sp>
        <p:nvSpPr>
          <p:cNvPr id="36" name="Shape 34"/>
          <p:cNvSpPr/>
          <p:nvPr/>
        </p:nvSpPr>
        <p:spPr>
          <a:xfrm>
            <a:off x="4627778" y="4087368"/>
            <a:ext cx="1051560" cy="292608"/>
          </a:xfrm>
          <a:prstGeom prst="roundRect">
            <a:avLst>
              <a:gd name="adj" fmla="val 15625"/>
            </a:avLst>
          </a:prstGeom>
          <a:solidFill>
            <a:srgbClr val="2E7D46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4627778" y="408736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5770778" y="4069080"/>
            <a:ext cx="1884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8158277" y="3246120"/>
            <a:ext cx="3484778" cy="1325880"/>
          </a:xfrm>
          <a:prstGeom prst="roundRect">
            <a:avLst>
              <a:gd name="adj" fmla="val 6207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8414309" y="3474720"/>
            <a:ext cx="548640" cy="548640"/>
          </a:xfrm>
          <a:prstGeom prst="ellipse">
            <a:avLst/>
          </a:prstGeom>
          <a:solidFill>
            <a:srgbClr val="0F2F6F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8414309" y="3474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9118397" y="3429000"/>
            <a:ext cx="23417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 · 실증</a:t>
            </a:r>
            <a:endParaRPr lang="en-US" sz="1450" dirty="0"/>
          </a:p>
        </p:txBody>
      </p:sp>
      <p:sp>
        <p:nvSpPr>
          <p:cNvPr id="43" name="Shape 41"/>
          <p:cNvSpPr/>
          <p:nvPr/>
        </p:nvSpPr>
        <p:spPr>
          <a:xfrm>
            <a:off x="8432597" y="4087368"/>
            <a:ext cx="1051560" cy="292608"/>
          </a:xfrm>
          <a:prstGeom prst="roundRect">
            <a:avLst>
              <a:gd name="adj" fmla="val 15625"/>
            </a:avLst>
          </a:prstGeom>
          <a:solidFill>
            <a:srgbClr val="E0A83C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8432597" y="408736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진행중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9575597" y="4069080"/>
            <a:ext cx="1884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하네스 구축 · 현장 실증 예정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548640" y="489204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EAF0FA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914400" y="4892040"/>
            <a:ext cx="103628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   </a:t>
            </a:r>
            <a:pPr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경로당 시범 운영 · HWP 문서 지원 · 사람·LLM 평가 보강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2F6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A8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LIMITATIONS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한계와 정직한 평가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64328" cy="896112"/>
          </a:xfrm>
          <a:prstGeom prst="roundRect">
            <a:avLst>
              <a:gd name="adj" fmla="val 7143"/>
            </a:avLst>
          </a:prstGeom>
          <a:solidFill>
            <a:srgbClr val="0A2352"/>
          </a:solidFill>
          <a:ln w="12700">
            <a:solidFill>
              <a:srgbClr val="24407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01368"/>
            <a:ext cx="490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0A8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평가셋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12264"/>
            <a:ext cx="490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제작(held-out 미구성)·키워드 기반 → 사람·LLM 평가로 보강 예정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743200"/>
            <a:ext cx="5364328" cy="896112"/>
          </a:xfrm>
          <a:prstGeom prst="roundRect">
            <a:avLst>
              <a:gd name="adj" fmla="val 7143"/>
            </a:avLst>
          </a:prstGeom>
          <a:solidFill>
            <a:srgbClr val="0A2352"/>
          </a:solidFill>
          <a:ln w="12700">
            <a:solidFill>
              <a:srgbClr val="24407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852928"/>
            <a:ext cx="490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0A8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형식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163824"/>
            <a:ext cx="490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HWP 미지원 (현재 PDF로 대체)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794760"/>
            <a:ext cx="5364328" cy="896112"/>
          </a:xfrm>
          <a:prstGeom prst="roundRect">
            <a:avLst>
              <a:gd name="adj" fmla="val 7143"/>
            </a:avLst>
          </a:prstGeom>
          <a:solidFill>
            <a:srgbClr val="0A2352"/>
          </a:solidFill>
          <a:ln w="12700">
            <a:solidFill>
              <a:srgbClr val="24407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904488"/>
            <a:ext cx="490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0A8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실증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215384"/>
            <a:ext cx="490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어르신 대상 파일럿 필요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78728" y="1691640"/>
            <a:ext cx="5364328" cy="896112"/>
          </a:xfrm>
          <a:prstGeom prst="roundRect">
            <a:avLst>
              <a:gd name="adj" fmla="val 7143"/>
            </a:avLst>
          </a:prstGeom>
          <a:solidFill>
            <a:srgbClr val="0A2352"/>
          </a:solidFill>
          <a:ln w="12700">
            <a:solidFill>
              <a:srgbClr val="24407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07328" y="1801368"/>
            <a:ext cx="490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0A8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감정 분석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6507328" y="2112264"/>
            <a:ext cx="490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이진 분류 한계 → 규칙 기반으로 보정 중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278728" y="2743200"/>
            <a:ext cx="5364328" cy="896112"/>
          </a:xfrm>
          <a:prstGeom prst="roundRect">
            <a:avLst>
              <a:gd name="adj" fmla="val 7143"/>
            </a:avLst>
          </a:prstGeom>
          <a:solidFill>
            <a:srgbClr val="0A2352"/>
          </a:solidFill>
          <a:ln w="12700">
            <a:solidFill>
              <a:srgbClr val="24407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07328" y="2852928"/>
            <a:ext cx="490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0A8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하드웨어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3163824"/>
            <a:ext cx="490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허브 필요 → 저사양 최적화 과제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78728" y="3794760"/>
            <a:ext cx="5364328" cy="896112"/>
          </a:xfrm>
          <a:prstGeom prst="roundRect">
            <a:avLst>
              <a:gd name="adj" fmla="val 7143"/>
            </a:avLst>
          </a:prstGeom>
          <a:solidFill>
            <a:srgbClr val="E0A83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278728" y="3794760"/>
            <a:ext cx="5364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A23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한계를 알고, 다음 단계 계획이 있다 = 신뢰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2026-09-10T03:58:20Z</dcterms:created>
  <dcterms:modified xsi:type="dcterms:W3CDTF">2026-09-10T03:58:20Z</dcterms:modified>
</cp:coreProperties>
</file>