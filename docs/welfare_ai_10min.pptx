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미션 한 줄: 복지 안내 + 이상신호 감지 + 개인정보 로컬 보호.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수치로 문제의 규모를 보여준다. 여성·고령·고립이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접근의 한계 → 우리 차별점(온디바이스/지역맞춤/대화형)의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장으로 시스템을 설명. 차별점=온디바이스.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input→STT→라우팅→(Layer1 RAG / Layer2 이상신호)→LLM 답변+복지사 알림. 모든 처리는 로컬.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작동 데모 2개 + 데이터 규모/성능 수치. data well-managed를 여기서 증명.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연계로 '진짜 사회적 임팩트 프로젝트'임을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주체별 변화 + 정량 KPI. 마지막 한 줄로 미션 재강조.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1단계 완료 강조, 나머지는 계획대로 진행 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정직한 한계 공개가 신뢰를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3840480" cy="3840480"/>
          </a:xfrm>
          <a:prstGeom prst="ellipse">
            <a:avLst/>
          </a:prstGeom>
          <a:solidFill>
            <a:srgbClr val="0A2352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486400"/>
            <a:ext cx="1371600" cy="1371600"/>
          </a:xfrm>
          <a:prstGeom prst="ellipse">
            <a:avLst/>
          </a:prstGeom>
          <a:solidFill>
            <a:srgbClr val="E0A8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대전광역시 · 온디바이스 AI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독거노인 복지 안내 ·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이상신호 감지 AI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519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어르신이 쉽게 묻고, 정확히 답 받고, 위험 신호는 자동 감지되는 복지 도우미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2926080" cy="0"/>
          </a:xfrm>
          <a:prstGeom prst="line">
            <a:avLst/>
          </a:prstGeom>
          <a:noFill/>
          <a:ln w="25400">
            <a:solidFill>
              <a:srgbClr val="E0A8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  민뚜쩌 · 박희재 · 오랑거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— 왜 지금, 대전 독거노인인가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54298" cy="178308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76,662명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7860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대전 독거노인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07792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인구의 5.3%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8698" y="1600200"/>
            <a:ext cx="3454298" cy="178308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51578" y="178308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+24.6%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51578" y="257860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대비 증가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1578" y="2907792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3년간 15,135명 늘어남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8757" y="1600200"/>
            <a:ext cx="3454298" cy="178308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71637" y="178308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65.8%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71637" y="257860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 비중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71637" y="2907792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 50,426명 ≫ 남성 26,236명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36432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독거노인 비율 추이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475488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0F2F6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3.5%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1023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0" y="4343400"/>
            <a:ext cx="1005840" cy="731520"/>
          </a:xfrm>
          <a:prstGeom prst="roundRect">
            <a:avLst>
              <a:gd name="adj" fmla="val 5000"/>
            </a:avLst>
          </a:prstGeom>
          <a:solidFill>
            <a:srgbClr val="0F2F6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331720" y="3886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4.2%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51023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69080" y="3931920"/>
            <a:ext cx="1005840" cy="1143000"/>
          </a:xfrm>
          <a:prstGeom prst="roundRect">
            <a:avLst>
              <a:gd name="adj" fmla="val 3636"/>
            </a:avLst>
          </a:prstGeom>
          <a:solidFill>
            <a:srgbClr val="E0A8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931920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5.3%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51023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78728" y="3611880"/>
            <a:ext cx="5364328" cy="1691640"/>
          </a:xfrm>
          <a:prstGeom prst="roundRect">
            <a:avLst>
              <a:gd name="adj" fmla="val 4865"/>
            </a:avLst>
          </a:prstGeom>
          <a:solidFill>
            <a:srgbClr val="FBF3E3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507328" y="3767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507328" y="4160520"/>
            <a:ext cx="49071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응급상황을 즉시 인지할 보호자·시스템 부재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정보 접근성 부족 (디지털 문해력 낮음)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대전광역시 사회지표 (daejeon.go.kr)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해결책의 한계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54298" cy="3200400"/>
          </a:xfrm>
          <a:prstGeom prst="roundRect">
            <a:avLst>
              <a:gd name="adj" fmla="val 2571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566928" cy="566928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74520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 기반 서비스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40280"/>
            <a:ext cx="235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노인맞춤돌봄 · 요양보호사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0565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 부족이 구조적으로 고착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2043년까지 최대 99만 명 추가 필요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고용 불안정 → 서비스 질 저하·도농 격차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68698" y="1645920"/>
            <a:ext cx="3454298" cy="3200400"/>
          </a:xfrm>
          <a:prstGeom prst="roundRect">
            <a:avLst>
              <a:gd name="adj" fmla="val 2571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4730" y="1874520"/>
            <a:ext cx="566928" cy="566928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473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28818" y="1874520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AI 돌봄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328818" y="2240280"/>
            <a:ext cx="235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케어콜 · 네이버 클로바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43018" y="2697480"/>
            <a:ext cx="290565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기반 → 개인정보 보안 이슈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스크립트 → 지역 맞춤 미반영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'말벗' 수준, 복지 안내 부족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88757" y="1645920"/>
            <a:ext cx="3454298" cy="3200400"/>
          </a:xfrm>
          <a:prstGeom prst="roundRect">
            <a:avLst>
              <a:gd name="adj" fmla="val 2571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44789" y="1874520"/>
            <a:ext cx="566928" cy="566928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44789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8877" y="1874520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웹·앱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148877" y="2240280"/>
            <a:ext cx="235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복지로 등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463077" y="2697480"/>
            <a:ext cx="290565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위주 UI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문해력 낮은 고령층에 부적합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접근·이용률 낮음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0F2F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512064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인력만으로는 근본 해결 불가 → 지역 맞춤 · 개인정보 보호형 기술적 보완이 필요하다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 LLM 기반 독거노인 복지정보 안내 및 이상징후 감지 시스템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64328" cy="1554480"/>
          </a:xfrm>
          <a:prstGeom prst="roundRect">
            <a:avLst>
              <a:gd name="adj" fmla="val 5294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12848"/>
            <a:ext cx="548640" cy="548640"/>
          </a:xfrm>
          <a:prstGeom prst="ellipse">
            <a:avLst/>
          </a:prstGeom>
          <a:solidFill>
            <a:srgbClr val="E0A8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12848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정보 대화형 안내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LLM + RAG 로 대전 복지 정보를 문서 근거 기반으로 안내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8728" y="1965960"/>
            <a:ext cx="5364328" cy="1554480"/>
          </a:xfrm>
          <a:prstGeom prst="roundRect">
            <a:avLst>
              <a:gd name="adj" fmla="val 5294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3048" y="2212848"/>
            <a:ext cx="548640" cy="548640"/>
          </a:xfrm>
          <a:prstGeom prst="ellipse">
            <a:avLst/>
          </a:prstGeom>
          <a:solidFill>
            <a:srgbClr val="E0A8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53048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38848" y="2212848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이상징후 감지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7889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패턴 기반으로 이상징후를 감지해 사회복지사에게 알림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BF3E3"/>
          </a:solidFill>
          <a:ln w="12700">
            <a:solidFill>
              <a:srgbClr val="E0A8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70332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차별점   </a:t>
            </a:r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온디바이스(비클라우드) → 개인정보 보안 강화 · 오프라인 환경에서도 작동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53643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498348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사용자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321808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대전 독거노인 · 가족 · 사회복지사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78728" y="4846320"/>
            <a:ext cx="53643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53048" y="498348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53048" y="5321808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응급상황 조기 발견 · 복지 정보 접근성 향상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 — 모두 기기 안에서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77440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(음성·문자)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926080" y="1929384"/>
            <a:ext cx="457200" cy="0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83280" y="1600200"/>
            <a:ext cx="2194560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6002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(Whisper)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음성인식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577840" y="1929384"/>
            <a:ext cx="457200" cy="0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35040" y="1600200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6002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라우팅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인사·잡담 vs 복지 질문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377440" y="2258568"/>
            <a:ext cx="0" cy="530352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707728" y="2258568"/>
            <a:ext cx="0" cy="530352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2788920"/>
            <a:ext cx="6766560" cy="1874520"/>
          </a:xfrm>
          <a:prstGeom prst="roundRect">
            <a:avLst>
              <a:gd name="adj" fmla="val 3902"/>
            </a:avLst>
          </a:prstGeom>
          <a:solidFill>
            <a:srgbClr val="EAF0FA"/>
          </a:solidFill>
          <a:ln w="15240">
            <a:solidFill>
              <a:srgbClr val="0F2F6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8986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1 · 복지 안내 (RAG)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24612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→ 섹션 청킹 → bge-m3 임베딩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 후보 10 → cross-encoder 재랭킹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관련성 게이트 → 상위 3개 근거 선택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0" y="2788920"/>
            <a:ext cx="3870655" cy="1874520"/>
          </a:xfrm>
          <a:prstGeom prst="roundRect">
            <a:avLst>
              <a:gd name="adj" fmla="val 3902"/>
            </a:avLst>
          </a:prstGeom>
          <a:solidFill>
            <a:srgbClr val="FBF3E3"/>
          </a:solidFill>
          <a:ln w="15240">
            <a:solidFill>
              <a:srgbClr val="E0A8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01000" y="2898648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2 · 이상신호 감지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3246120"/>
            <a:ext cx="332201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반복 카운트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 감정 점수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baseline 대비 변화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377440" y="4663440"/>
            <a:ext cx="0" cy="365760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07728" y="4663440"/>
            <a:ext cx="0" cy="365760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5029200"/>
            <a:ext cx="6766560" cy="685800"/>
          </a:xfrm>
          <a:prstGeom prst="roundRect">
            <a:avLst>
              <a:gd name="adj" fmla="val 9333"/>
            </a:avLst>
          </a:prstGeom>
          <a:solidFill>
            <a:srgbClr val="0F2F6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0292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LLM (EXAONE 3.5)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근거로만 한국어 답변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772400" y="5029200"/>
            <a:ext cx="3870655" cy="685800"/>
          </a:xfrm>
          <a:prstGeom prst="roundRect">
            <a:avLst>
              <a:gd name="adj" fmla="val 9333"/>
            </a:avLst>
          </a:prstGeom>
          <a:solidFill>
            <a:srgbClr val="E0A83C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0" y="5029200"/>
            <a:ext cx="3687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사회복지사 알림 요약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이상신호 감지 시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EAF0F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 전 과정 로컬 · 대화는 기기·가정 네트워크를 벗어나지 않습니다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데모 · 데이터 · 성능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2148840"/>
          </a:xfrm>
          <a:prstGeom prst="roundRect">
            <a:avLst>
              <a:gd name="adj" fmla="val 3830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F2F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105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810512"/>
            <a:ext cx="3352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Q&amp;A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48156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"기초연금은 어떻게 신청하나요?" → 문서 근거 기반 정확 안내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밖 질문은 지어내지 않고 안전하게 거절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인사·잡담은 따뜻한 대화형 응답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364328" cy="2148840"/>
          </a:xfrm>
          <a:prstGeom prst="roundRect">
            <a:avLst>
              <a:gd name="adj" fmla="val 3830"/>
            </a:avLst>
          </a:prstGeom>
          <a:solidFill>
            <a:srgbClr val="FBF3E3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3048" y="181051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E0A8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3048" y="18105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B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61808" y="1810512"/>
            <a:ext cx="3352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이상신호 감지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286000"/>
            <a:ext cx="48156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반복 + 부정 감정 대화 감지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 키워드 시 즉시 긴급 알림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사회복지사 알림 요약 생성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345429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31520" y="416052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3,455개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919472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 청크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230368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보건복지부 사업안내 + 대전 공개데이터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68698" y="3977640"/>
            <a:ext cx="345429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51578" y="416052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93%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4551578" y="4919472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200문항 정답률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51578" y="5230368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밖 거절 100% · 한국어 98%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88757" y="3977640"/>
            <a:ext cx="345429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71637" y="416052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+14%p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8371637" y="4919472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재랭킹 효과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371637" y="5230368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근거 상위노출 완화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 연계 방안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누구와 연결되나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760720" cy="82296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31136"/>
            <a:ext cx="475488" cy="475488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671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주민센터 · 구청 노인복지과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963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신청·상담 연결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760720" cy="82296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191256"/>
            <a:ext cx="475488" cy="475488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1272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사회복지사 · 생활지원사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이상신호 알림 → 방문·전화 대응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760720" cy="82296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151376"/>
            <a:ext cx="475488" cy="475488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151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0873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치매안심센터 · 보건소 · 노인복지관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4165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안내 연계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2057400"/>
            <a:ext cx="4876495" cy="1417320"/>
          </a:xfrm>
          <a:prstGeom prst="roundRect">
            <a:avLst>
              <a:gd name="adj" fmla="val 5806"/>
            </a:avLst>
          </a:prstGeom>
          <a:solidFill>
            <a:srgbClr val="EAF0FA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040880" y="2194560"/>
            <a:ext cx="4327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방식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542032"/>
            <a:ext cx="43278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경로당·복지관에 허브(태블릿·미니PC) 배치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어르신은 같은 WiFi로 접속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구청 협조로 지역 데이터 주기적 갱신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66560" y="3611880"/>
            <a:ext cx="4876495" cy="1417320"/>
          </a:xfrm>
          <a:prstGeom prst="roundRect">
            <a:avLst>
              <a:gd name="adj" fmla="val 5806"/>
            </a:avLst>
          </a:prstGeom>
          <a:solidFill>
            <a:srgbClr val="FBF3E3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040880" y="3749040"/>
            <a:ext cx="4327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지속가능한가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096512"/>
            <a:ext cx="43278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비용 없음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부담 낮음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지자체가 적은 부담으로 도입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임팩트 — 누구에게 어떤 변화를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2905658" cy="502920"/>
          </a:xfrm>
          <a:prstGeom prst="roundRect">
            <a:avLst>
              <a:gd name="adj" fmla="val 10909"/>
            </a:avLst>
          </a:prstGeom>
          <a:solidFill>
            <a:srgbClr val="E0A8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어르신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281421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정보 접근성 향상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응급상황 조기 대응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외로움·고립 완화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68698" y="17830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3018" y="2057400"/>
            <a:ext cx="2905658" cy="502920"/>
          </a:xfrm>
          <a:prstGeom prst="roundRect">
            <a:avLst>
              <a:gd name="adj" fmla="val 10909"/>
            </a:avLst>
          </a:prstGeom>
          <a:solidFill>
            <a:srgbClr val="E0A8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43018" y="205740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사회복지사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88738" y="2743200"/>
            <a:ext cx="281421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징후 조기 파악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한정된 인력의 선택과 집중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방문 대상 식별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88757" y="17830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63077" y="2057400"/>
            <a:ext cx="2905658" cy="502920"/>
          </a:xfrm>
          <a:prstGeom prst="roundRect">
            <a:avLst>
              <a:gd name="adj" fmla="val 10909"/>
            </a:avLst>
          </a:prstGeom>
          <a:solidFill>
            <a:srgbClr val="E0A8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63077" y="205740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508797" y="2743200"/>
            <a:ext cx="281421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사각지대 축소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고독사 예방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저비용으로 확산 가능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“혼자가 아니라고 느끼게 하는 기술”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현황과 계획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4778" cy="1325880"/>
          </a:xfrm>
          <a:prstGeom prst="roundRect">
            <a:avLst>
              <a:gd name="adj" fmla="val 620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74520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대화 (RAG Q&amp;A)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53288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2E7D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532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51460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· 오늘 발표 핵심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53458" y="1691640"/>
            <a:ext cx="3484778" cy="1325880"/>
          </a:xfrm>
          <a:prstGeom prst="roundRect">
            <a:avLst>
              <a:gd name="adj" fmla="val 620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9490" y="192024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0949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13578" y="1874520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이상신호 감지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627778" y="253288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2E7D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27778" y="2532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770778" y="251460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(고도화 예정)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58277" y="1691640"/>
            <a:ext cx="3484778" cy="1325880"/>
          </a:xfrm>
          <a:prstGeom prst="roundRect">
            <a:avLst>
              <a:gd name="adj" fmla="val 620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4309" y="192024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4309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18397" y="1874520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기능 융합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432597" y="253288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2E7D4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32597" y="2532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575597" y="251460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완료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3484778" cy="1325880"/>
          </a:xfrm>
          <a:prstGeom prst="roundRect">
            <a:avLst>
              <a:gd name="adj" fmla="val 620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347472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4672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3429000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대화 (STT·TTS)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822960" y="408736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E0A83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0873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965960" y="406908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구현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53458" y="3246120"/>
            <a:ext cx="3484778" cy="1325880"/>
          </a:xfrm>
          <a:prstGeom prst="roundRect">
            <a:avLst>
              <a:gd name="adj" fmla="val 620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09490" y="347472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0949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313578" y="3429000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(모바일·PWA)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4627778" y="408736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2E7D4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627778" y="40873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770778" y="406908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158277" y="3246120"/>
            <a:ext cx="3484778" cy="1325880"/>
          </a:xfrm>
          <a:prstGeom prst="roundRect">
            <a:avLst>
              <a:gd name="adj" fmla="val 620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414309" y="347472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414309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9118397" y="3429000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· 실증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8432597" y="408736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E0A83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432597" y="40873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575597" y="406908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 구축 · 현장 실증 예정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48640" y="489204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14400" y="489204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  </a:t>
            </a:r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경로당 시범 운영 · HWP 문서 지원 · 사람·LLM 평가 보강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정직한 평가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896112"/>
          </a:xfrm>
          <a:prstGeom prst="roundRect">
            <a:avLst>
              <a:gd name="adj" fmla="val 7143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12264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제작(held-out 미구성)·키워드 기반 → 사람·LLM 평가로 보강 예정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364328" cy="896112"/>
          </a:xfrm>
          <a:prstGeom prst="roundRect">
            <a:avLst>
              <a:gd name="adj" fmla="val 7143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52928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형식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63824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HWP 미지원 (현재 PDF로 대체)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64328" cy="896112"/>
          </a:xfrm>
          <a:prstGeom prst="roundRect">
            <a:avLst>
              <a:gd name="adj" fmla="val 7143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04488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실증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15384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어르신 대상 파일럿 필요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8728" y="1691640"/>
            <a:ext cx="5364328" cy="896112"/>
          </a:xfrm>
          <a:prstGeom prst="roundRect">
            <a:avLst>
              <a:gd name="adj" fmla="val 7143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7328" y="1801368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분석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07328" y="2112264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분류 한계 → 규칙 기반으로 보정 중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8728" y="2743200"/>
            <a:ext cx="5364328" cy="896112"/>
          </a:xfrm>
          <a:prstGeom prst="roundRect">
            <a:avLst>
              <a:gd name="adj" fmla="val 7143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7328" y="2852928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163824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허브 필요 → 저사양 최적화 과제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8728" y="3794760"/>
            <a:ext cx="5364328" cy="896112"/>
          </a:xfrm>
          <a:prstGeom prst="roundRect">
            <a:avLst>
              <a:gd name="adj" fmla="val 7143"/>
            </a:avLst>
          </a:prstGeom>
          <a:solidFill>
            <a:srgbClr val="E0A8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8728" y="3794760"/>
            <a:ext cx="5364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23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알고, 다음 단계 계획이 있다 = 신뢰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2026-09-07T13:22:41Z</dcterms:created>
  <dcterms:modified xsi:type="dcterms:W3CDTF">2026-09-07T13:22:41Z</dcterms:modified>
</cp:coreProperties>
</file>