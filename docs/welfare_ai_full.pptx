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온디바이스 LLM 기반 독거노인 복지 안내·이상신호 감지, 대전노인복지 HUB, 8조.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수치로 문제 규모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접근의 한계 → 우리 차별점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차별점 = 온디바이스 + 에이전트.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복지 질문 → 에이전트(도구 선택·분해) → LLM 합성. Layer2 이상신호는 구현 예정. 전부 로컬.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출처(24파일)·형식(PDF/CSV/XLS/MD)·처리(정제→구조화→청킹→bge-m3→3,455청크). 로컬.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선택 근거 + 논문. 실데이터에서 EXAONE&gt;Qwen.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에이전트 기본 + 다중의도 + 게이트 + 로컬 + 후퇴.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대화: 근거답변 + 다중의도 분해 + 안전거절.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정답률 약 93%, 거절 100%, 사실 98%, +14%p. 변동은 정직하게.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연계 = 진짜 사회적 임팩트.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3주체 변화 + 슬로건.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1단계 완료. 나머지 진행/계획.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정직한 한계 공개 = 신뢰.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3840480" cy="3840480"/>
          </a:xfrm>
          <a:prstGeom prst="ellipse">
            <a:avLst/>
          </a:prstGeom>
          <a:solidFill>
            <a:srgbClr val="0A2352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486400"/>
            <a:ext cx="1371600" cy="1371600"/>
          </a:xfrm>
          <a:prstGeom prst="ellipse">
            <a:avLst/>
          </a:prstGeom>
          <a:solidFill>
            <a:srgbClr val="E0A8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대전광역시 · 온디바이스 AI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독거노인 복지 안내 ·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이상신호 감지 AI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어르신이 쉽게 묻고, 정확히 답 받고, 위험 신호는 자동 감지되는 복지 도우미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대전노인복지 HUB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212080"/>
            <a:ext cx="2926080" cy="0"/>
          </a:xfrm>
          <a:prstGeom prst="line">
            <a:avLst/>
          </a:prstGeom>
          <a:noFill/>
          <a:ln w="25400">
            <a:solidFill>
              <a:srgbClr val="E0A8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8조   민뚜쩌 · 박희재 · 오랑거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404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해결책의 한계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1181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8313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544568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544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5257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035040" y="1691640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350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93408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대화 구현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035040" y="2404872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0350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93408" y="2404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035040" y="3118104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350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693408" y="31181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035040" y="3831336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0350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693408" y="38313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 연계 방안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035040" y="4544568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03504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693408" y="4544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임팩트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6035040" y="5257800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0350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693408" y="5257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 · 한계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— 왜 지금, 대전 독거노인인가?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54298" cy="1737360"/>
          </a:xfrm>
          <a:prstGeom prst="roundRect">
            <a:avLst>
              <a:gd name="adj" fmla="val 473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76,662명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42032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대전 독거노인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71216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인구의 5.3%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8698" y="1600200"/>
            <a:ext cx="3454298" cy="1737360"/>
          </a:xfrm>
          <a:prstGeom prst="roundRect">
            <a:avLst>
              <a:gd name="adj" fmla="val 473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51578" y="178308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+24.6%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551578" y="2542032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대비 증가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1578" y="2871216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3년간 15,135명 늘어남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8757" y="1600200"/>
            <a:ext cx="3454298" cy="1737360"/>
          </a:xfrm>
          <a:prstGeom prst="roundRect">
            <a:avLst>
              <a:gd name="adj" fmla="val 473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71637" y="178308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65.8%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371637" y="2542032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 비중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71637" y="2871216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 50,426명 ≫ 남성 26,236명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36432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독거노인 비율 추이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475488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0F2F6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3.5%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074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0" y="4343400"/>
            <a:ext cx="1005840" cy="685800"/>
          </a:xfrm>
          <a:prstGeom prst="roundRect">
            <a:avLst>
              <a:gd name="adj" fmla="val 5333"/>
            </a:avLst>
          </a:prstGeom>
          <a:solidFill>
            <a:srgbClr val="0F2F6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331720" y="3886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4.2%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5074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69080" y="3931920"/>
            <a:ext cx="1005840" cy="1097280"/>
          </a:xfrm>
          <a:prstGeom prst="roundRect">
            <a:avLst>
              <a:gd name="adj" fmla="val 3636"/>
            </a:avLst>
          </a:prstGeom>
          <a:solidFill>
            <a:srgbClr val="E0A8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931920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5.3%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5074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78728" y="3520440"/>
            <a:ext cx="5364328" cy="1737360"/>
          </a:xfrm>
          <a:prstGeom prst="roundRect">
            <a:avLst>
              <a:gd name="adj" fmla="val 4737"/>
            </a:avLst>
          </a:prstGeom>
          <a:solidFill>
            <a:srgbClr val="FBF3E3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507328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507328" y="4069080"/>
            <a:ext cx="49071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응급상황을 즉시 인지할 보호자·시스템 부재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정보 접근성 부족 (디지털 문해력 낮음)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대전광역시 사회지표 (daejeon.go.kr)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해결책의 한계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54298" cy="3063240"/>
          </a:xfrm>
          <a:prstGeom prst="roundRect">
            <a:avLst>
              <a:gd name="adj" fmla="val 268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874520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 기반 서비스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240280"/>
            <a:ext cx="235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노인맞춤돌봄·요양보호사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0565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 부족 구조적 고착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2043년까지 최대 99만 명 필요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고용 불안정 → 서비스 질 저하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8698" y="1645920"/>
            <a:ext cx="3454298" cy="3063240"/>
          </a:xfrm>
          <a:prstGeom prst="roundRect">
            <a:avLst>
              <a:gd name="adj" fmla="val 268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4730" y="187452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473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01386" y="1874520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AI 돌봄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01386" y="2240280"/>
            <a:ext cx="235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케어콜·네이버 클로바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43018" y="2697480"/>
            <a:ext cx="290565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→ 개인정보 이슈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스크립트, 지역 맞춤 미반영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'말벗' 수준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88757" y="1645920"/>
            <a:ext cx="3454298" cy="3063240"/>
          </a:xfrm>
          <a:prstGeom prst="roundRect">
            <a:avLst>
              <a:gd name="adj" fmla="val 268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44789" y="187452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44789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21445" y="1874520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웹·앱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21445" y="2240280"/>
            <a:ext cx="235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복지로·정부24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463077" y="2697480"/>
            <a:ext cx="290565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위주 UI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문해력 낮은 고령층 부적합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이용률 낮음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0F2F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98348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인력만으로는 근본 해결 불가 → 지역 맞춤·개인정보 보호형 기술적 보완이 필요하다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 LLM 기반 독거노인 복지정보 안내 및 이상징후 감지 시스템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64328" cy="1463040"/>
          </a:xfrm>
          <a:prstGeom prst="roundRect">
            <a:avLst>
              <a:gd name="adj" fmla="val 5625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530352" cy="530352"/>
          </a:xfrm>
          <a:prstGeom prst="ellipse">
            <a:avLst/>
          </a:prstGeom>
          <a:solidFill>
            <a:srgbClr val="E0A8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48840"/>
            <a:ext cx="426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정보 대화형 안내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97480"/>
            <a:ext cx="4724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LLM + RAG로 대전 복지 정보를 문서 근거 기반으로 안내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8728" y="1920240"/>
            <a:ext cx="5364328" cy="1463040"/>
          </a:xfrm>
          <a:prstGeom prst="roundRect">
            <a:avLst>
              <a:gd name="adj" fmla="val 5625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3048" y="2148840"/>
            <a:ext cx="530352" cy="530352"/>
          </a:xfrm>
          <a:prstGeom prst="ellipse">
            <a:avLst/>
          </a:prstGeom>
          <a:solidFill>
            <a:srgbClr val="E0A8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53048" y="2148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11416" y="2148840"/>
            <a:ext cx="426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이상징후 감지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697480"/>
            <a:ext cx="4724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패턴 기반으로 이상징후를 감지해 사회복지사에게 알림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BF3E3"/>
          </a:solidFill>
          <a:ln w="12700">
            <a:solidFill>
              <a:srgbClr val="E0A8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6118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차별점   </a:t>
            </a:r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온디바이스(비클라우드) 개인정보 보안 · 도구 호출형 에이전트가 복지 답변을 기본 처리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536432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489204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사용자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23036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대전 독거노인 · 가족 · 사회복지사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78728" y="4754880"/>
            <a:ext cx="536432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53048" y="489204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53048" y="523036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응급상황 조기 발견 · 복지 정보 접근성 향상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 — 에이전트 기반, 모두 기기 안에서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286000" cy="621792"/>
          </a:xfrm>
          <a:prstGeom prst="roundRect">
            <a:avLst>
              <a:gd name="adj" fmla="val 10294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(음성·문자)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1865376"/>
            <a:ext cx="411480" cy="0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46120" y="1554480"/>
            <a:ext cx="2103120" cy="621792"/>
          </a:xfrm>
          <a:prstGeom prst="roundRect">
            <a:avLst>
              <a:gd name="adj" fmla="val 10294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5544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(Whisper)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49240" y="1865376"/>
            <a:ext cx="411480" cy="0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760720" y="1554480"/>
            <a:ext cx="2651760" cy="621792"/>
          </a:xfrm>
          <a:prstGeom prst="roundRect">
            <a:avLst>
              <a:gd name="adj" fmla="val 10294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15544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라우팅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인사·잡담 / off-domain 분기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6858000" cy="1965960"/>
          </a:xfrm>
          <a:prstGeom prst="roundRect">
            <a:avLst>
              <a:gd name="adj" fmla="val 4186"/>
            </a:avLst>
          </a:prstGeom>
          <a:solidFill>
            <a:srgbClr val="FBF3E3"/>
          </a:solidFill>
          <a:ln w="17780">
            <a:solidFill>
              <a:srgbClr val="E0A8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2176272"/>
            <a:ext cx="0" cy="475488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777240" y="27614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에이전트 (복지 답변 기본 경로)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10896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① 문서 검색(RAG): 정제·청킹 → bge-m3 → ChromaDB 후보10 → 재랭킹 → 관련성 게이트 상위3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② 시설 조회: 대전 구별 시설·식사배달 데이터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질문은 주제별로 분해 · 최대 3스텝 · 실패 시 결정형으로 자동 후퇴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651760"/>
            <a:ext cx="3870655" cy="1965960"/>
          </a:xfrm>
          <a:prstGeom prst="roundRect">
            <a:avLst>
              <a:gd name="adj" fmla="val 4186"/>
            </a:avLst>
          </a:prstGeom>
          <a:solidFill>
            <a:srgbClr val="F6F7F9"/>
          </a:solidFill>
          <a:ln w="17780">
            <a:solidFill>
              <a:srgbClr val="B9C2CF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0271455" y="2779776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E0A8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71455" y="27797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예정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2761488"/>
            <a:ext cx="2407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2 · 이상신호 분석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3154680"/>
            <a:ext cx="33220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점수 + 증상 반복 추적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baseline 대비 변화(4지표)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 분류 → 사회복지사 알림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77440" y="4617720"/>
            <a:ext cx="0" cy="320040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4937760"/>
            <a:ext cx="6858000" cy="640080"/>
          </a:xfrm>
          <a:prstGeom prst="roundRect">
            <a:avLst>
              <a:gd name="adj" fmla="val 10000"/>
            </a:avLst>
          </a:prstGeom>
          <a:solidFill>
            <a:srgbClr val="0F2F6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937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LLM · Ollama (EXAONE 3.5 2.4B)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모은 근거만으로 한국어 답변 합성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EAF0F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 전 과정 로컬 · 대화는 기기·가정 네트워크를 벗어나지 않습니다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— 무엇을 · 어떤 형식으로 · 어떻게 처리했나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532120" cy="2103120"/>
          </a:xfrm>
          <a:prstGeom prst="roundRect">
            <a:avLst>
              <a:gd name="adj" fmla="val 3913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73936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739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317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보건복지부 「2025 노인보건복지 사업안내」 1·2권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대전시 구별 노인복지시설 현황(요양·복지관·경로당)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대전 노인맞춤돌봄·재가노인 식사배달 현황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3101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공공기관 공개데이터 24개 파일 (개인정보 없음)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572768"/>
            <a:ext cx="5196535" cy="2103120"/>
          </a:xfrm>
          <a:prstGeom prst="roundRect">
            <a:avLst>
              <a:gd name="adj" fmla="val 3913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65976" y="1773936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65976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17739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형식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39128" y="2331720"/>
            <a:ext cx="22142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0A8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85432" y="2377440"/>
            <a:ext cx="19399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85432" y="2606040"/>
            <a:ext cx="1939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정책·OCR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36228" y="2331720"/>
            <a:ext cx="22142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0A8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82532" y="2377440"/>
            <a:ext cx="19399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82532" y="2606040"/>
            <a:ext cx="1939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돌봄·식사배달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39128" y="2971800"/>
            <a:ext cx="22142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0A8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3017520"/>
            <a:ext cx="19399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XLS/XLSX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246120"/>
            <a:ext cx="1939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 현황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36228" y="2971800"/>
            <a:ext cx="22142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0A8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82532" y="3017520"/>
            <a:ext cx="19399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MD/TXT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82532" y="3246120"/>
            <a:ext cx="1939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3639312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HWP는 현재 PDF로 대체 · 향후 지원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4023360"/>
            <a:ext cx="457200" cy="45720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4023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 파이프라인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48640" y="4681728"/>
            <a:ext cx="1487363" cy="9144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3504" y="4828032"/>
            <a:ext cx="13776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" y="5157216"/>
            <a:ext cx="13776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머리말·쪽번호 제거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36003" y="5138928"/>
            <a:ext cx="310896" cy="0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346899" y="4681728"/>
            <a:ext cx="1487363" cy="914400"/>
          </a:xfrm>
          <a:prstGeom prst="roundRect">
            <a:avLst>
              <a:gd name="adj" fmla="val 7000"/>
            </a:avLst>
          </a:prstGeom>
          <a:solidFill>
            <a:srgbClr val="EAF0FA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401763" y="4828032"/>
            <a:ext cx="13776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구조화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401763" y="5157216"/>
            <a:ext cx="13776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인식→컬럼:값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34262" y="5138928"/>
            <a:ext cx="310896" cy="0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145158" y="4681728"/>
            <a:ext cx="1487363" cy="9144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00022" y="4828032"/>
            <a:ext cx="13776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청킹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200022" y="5157216"/>
            <a:ext cx="13776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항목 단위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32521" y="5138928"/>
            <a:ext cx="310896" cy="0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943417" y="4681728"/>
            <a:ext cx="1487363" cy="914400"/>
          </a:xfrm>
          <a:prstGeom prst="roundRect">
            <a:avLst>
              <a:gd name="adj" fmla="val 7000"/>
            </a:avLst>
          </a:prstGeom>
          <a:solidFill>
            <a:srgbClr val="EAF0FA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98281" y="4828032"/>
            <a:ext cx="13776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저품질 제거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5998281" y="5157216"/>
            <a:ext cx="13776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 삭제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30780" y="5138928"/>
            <a:ext cx="310896" cy="0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741676" y="4681728"/>
            <a:ext cx="1487363" cy="9144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96540" y="4828032"/>
            <a:ext cx="13776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임베딩·색인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7796540" y="5157216"/>
            <a:ext cx="13776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bge-m3→ChromaDB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229039" y="5138928"/>
            <a:ext cx="310896" cy="0"/>
          </a:xfrm>
          <a:prstGeom prst="line">
            <a:avLst/>
          </a:prstGeom>
          <a:noFill/>
          <a:ln w="31750">
            <a:solidFill>
              <a:srgbClr val="E0A83C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539935" y="4681728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F2F6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539935" y="468172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3,455개
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 청크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모델을 · 왜 선택했나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크기, 한국어 성능, 로컬 실행 가능성을 기준으로 선정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54298" cy="1965960"/>
          </a:xfrm>
          <a:prstGeom prst="roundRect">
            <a:avLst>
              <a:gd name="adj" fmla="val 4651"/>
            </a:avLst>
          </a:prstGeom>
          <a:solidFill>
            <a:srgbClr val="0F2F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EXAONE 3.5 2.4B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생성 LLM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특화(LG AI)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 최고 성능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8698" y="1828800"/>
            <a:ext cx="3454298" cy="1965960"/>
          </a:xfrm>
          <a:prstGeom prst="roundRect">
            <a:avLst>
              <a:gd name="adj" fmla="val 4651"/>
            </a:avLst>
          </a:prstGeom>
          <a:solidFill>
            <a:srgbClr val="0F2F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1578" y="205740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BAAI/bge-m3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51578" y="26060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임베딩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51578" y="301752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다국어(한국어)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임베딩으로 후보 검색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8757" y="1828800"/>
            <a:ext cx="3454298" cy="1965960"/>
          </a:xfrm>
          <a:prstGeom prst="roundRect">
            <a:avLst>
              <a:gd name="adj" fmla="val 4651"/>
            </a:avLst>
          </a:prstGeom>
          <a:solidFill>
            <a:srgbClr val="0F2F6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71637" y="205740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bge-reranker-v2-m3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71637" y="26060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재랭킹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71637" y="301752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질문·문서를 함께 평가해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재정렬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233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비교: 실데이터에서 한국어 특화 EXAONE 3.5 &gt; Qwen 2.5 (Llama 계열은 영어 혼입)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참고문헌 (모델·기법 근거)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4632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Lewis et al. RAG for Knowledge-Intensive NLP. NeurIPS 2020. arXiv:2005.11401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Chen et al. M3-Embedding (BGE-M3). ACL 2024 Findings. arXiv:2402.03216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Nogueira &amp; Cho. Passage Re-ranking with BERT. arXiv:1901.04085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AI Research. EXAONE 3.5. arXiv:2412.04862   ·   Qwen2.5 Tech Report. arXiv:2412.15115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Radford et al. Whisper. ICML 2023. arXiv:2212.04356   ·   KMMLU. NAACL 2025. arXiv:2402.11548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대화 구현 (1단계 · 완료)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근거해 답하는 완전 로컬 · 에이전트 기반 챗봇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64008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→ 의도 라우팅 → 에이전트(도구 선택·복합질문 분해) → 문서 검색·재랭킹·게이트 → 로컬 LLM 답변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1091153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기본 처리: LLM이 도구(문서 검색·시설 조회)를 골라 다단계 처리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의도 분해: 복합 질문을 주제별로 나눠 각각 검색·종합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색인: 정제 → 섹션 청킹 → bge-m3 임베딩 → ChromaDB (3,455 청크)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재랭킹: cross-encoder로 상위 근거 선별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off-domain 가드 + 관련성 게이트: 근거 없으면 지어내지 않고 주민센터 안내 (환각 방지)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로컬(EXAONE 3.5) · 도구 호출 실패 시 결정형으로 자동 후퇴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— 실제 대화 예시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4572000"/>
          </a:xfrm>
          <a:prstGeom prst="roundRect">
            <a:avLst>
              <a:gd name="adj" fmla="val 1800"/>
            </a:avLst>
          </a:prstGeom>
          <a:solidFill>
            <a:srgbClr val="F7FA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682496"/>
            <a:ext cx="6345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 어르신  ↔  복지 도우미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75888" y="2103120"/>
            <a:ext cx="3474720" cy="457200"/>
          </a:xfrm>
          <a:prstGeom prst="roundRect">
            <a:avLst>
              <a:gd name="adj" fmla="val 18000"/>
            </a:avLst>
          </a:prstGeom>
          <a:solidFill>
            <a:srgbClr val="0F2F6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22192" y="210312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기초연금은 어떻게 신청하나요?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4672" y="2651760"/>
            <a:ext cx="48920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" y="2670048"/>
            <a:ext cx="45628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65세 이상이시면 신분증과 통장 사본으로 가까운 주민센터·국민연금공단에서 신청하실 수 있어요.
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문서 근거 기반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87168" y="3657600"/>
            <a:ext cx="4663440" cy="457200"/>
          </a:xfrm>
          <a:prstGeom prst="roundRect">
            <a:avLst>
              <a:gd name="adj" fmla="val 18000"/>
            </a:avLst>
          </a:prstGeom>
          <a:solidFill>
            <a:srgbClr val="0F2F6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33472" y="3657600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무릎도 아프고 난방비도 걱정이고 일자리도 필요해요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" y="420624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4224528"/>
            <a:ext cx="47914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건강(보건소)·냉난방비 지원·노인 일자리 세 가지로 나눠 각각 안내해 드릴게요.
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에이전트 다중 의도 분해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58768" y="5257800"/>
            <a:ext cx="3291840" cy="457200"/>
          </a:xfrm>
          <a:prstGeom prst="roundRect">
            <a:avLst>
              <a:gd name="adj" fmla="val 18000"/>
            </a:avLst>
          </a:prstGeom>
          <a:solidFill>
            <a:srgbClr val="0F2F6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05072" y="525780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비트코인은 어떻게 사요?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" y="5806440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" y="5824728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안내를 돕고 있어요. 자세한 문의는 주민센터로 — </a:t>
            </a:r>
            <a:pPr indent="0" marL="0">
              <a:buNone/>
            </a:pPr>
            <a:r>
              <a:rPr lang="en-US" sz="1000" b="1" dirty="0">
                <a:solidFill>
                  <a:srgbClr val="A2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거절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790688" y="1572768"/>
            <a:ext cx="3852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답하는 방식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2048256"/>
            <a:ext cx="38523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근거로만 정확히 답변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2551176"/>
            <a:ext cx="38523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모르면 지어내지 않고 주민센터 안내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90688" y="3054096"/>
            <a:ext cx="38523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질문은 주제별로 분해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90688" y="3557016"/>
            <a:ext cx="38523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신호는 자동 감지·알림(예정)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90688" y="4160520"/>
            <a:ext cx="3852367" cy="621792"/>
          </a:xfrm>
          <a:prstGeom prst="roundRect">
            <a:avLst>
              <a:gd name="adj" fmla="val 13235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973568" y="41605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93%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665208" y="4160520"/>
            <a:ext cx="184068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정답률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90688" y="4892040"/>
            <a:ext cx="3852367" cy="621792"/>
          </a:xfrm>
          <a:prstGeom prst="roundRect">
            <a:avLst>
              <a:gd name="adj" fmla="val 13235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973568" y="489204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665208" y="4892040"/>
            <a:ext cx="184068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밖 거절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90688" y="5623560"/>
            <a:ext cx="3852367" cy="621792"/>
          </a:xfrm>
          <a:prstGeom prst="roundRect">
            <a:avLst>
              <a:gd name="adj" fmla="val 13235"/>
            </a:avLst>
          </a:prstGeom>
          <a:solidFill>
            <a:srgbClr val="FBF3E3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973568" y="56235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+14%p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665208" y="5623560"/>
            <a:ext cx="184068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재랭킹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— 실데이터 200문항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실데이터, 200문항(정보 150 / 범위밖 50), EXAONE 3.5 2.4B, 재랭킹 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5429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3,455개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07792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 청크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4612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보건복지부 사업안내 + 대전 공개데이터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8698" y="1874520"/>
            <a:ext cx="3454298" cy="1828800"/>
          </a:xfrm>
          <a:prstGeom prst="roundRect">
            <a:avLst>
              <a:gd name="adj" fmla="val 4500"/>
            </a:avLst>
          </a:prstGeom>
          <a:solidFill>
            <a:srgbClr val="FBF3E3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51578" y="210312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93%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551578" y="2907792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정답률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51578" y="324612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밖 거절 100% · 사실 정확도 98%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8757" y="1874520"/>
            <a:ext cx="345429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71637" y="210312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+14%p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371637" y="2907792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재랭킹 효과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71637" y="324612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근거 상위 노출 완화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02336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밖 거절 100%: off-domain 가드가 복지 무관 질문을 검색 전 차단 → 환각 원천 차단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준수 98% · 간결성 98% · 평균 응답 약 4.8초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로컬 모델 특성상 실행마다 정답률 ±2~3%p 변동, 범위 밖 거절·사실 정확도는 안정적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 연계 방안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누구와 연결되나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760720" cy="82296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85416"/>
            <a:ext cx="475488" cy="475488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85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행정복지센터 · 구청 노인복지과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505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서비스 신청·상담 연계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760720" cy="82296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145536"/>
            <a:ext cx="475488" cy="475488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45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사회복지사 · 생활지원사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4107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이상신호 알림 → 방문·전화 대응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760720" cy="82296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105656"/>
            <a:ext cx="475488" cy="475488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105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치매안심센터 · 보건소 · 노인복지관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3708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돌봄·건강관리 안내·연계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2011680"/>
            <a:ext cx="4876495" cy="1417320"/>
          </a:xfrm>
          <a:prstGeom prst="roundRect">
            <a:avLst>
              <a:gd name="adj" fmla="val 5806"/>
            </a:avLst>
          </a:prstGeom>
          <a:solidFill>
            <a:srgbClr val="EAF0FA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040880" y="2148840"/>
            <a:ext cx="4327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방식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496312"/>
            <a:ext cx="43278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경로당·복지관에 온디바이스 허브 배치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단말기 간 동일 로컬 WiFi 통신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구청 협조로 지역 데이터 주기적 갱신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66560" y="3566160"/>
            <a:ext cx="4876495" cy="1417320"/>
          </a:xfrm>
          <a:prstGeom prst="roundRect">
            <a:avLst>
              <a:gd name="adj" fmla="val 5806"/>
            </a:avLst>
          </a:prstGeom>
          <a:solidFill>
            <a:srgbClr val="FBF3E3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040880" y="3703320"/>
            <a:ext cx="4327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지속가능한가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050792"/>
            <a:ext cx="43278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비용 없음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부담 낮음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지자체가 적은 예산으로 도입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임팩트 — 누구에게 어떤 변화를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2905658" cy="502920"/>
          </a:xfrm>
          <a:prstGeom prst="roundRect">
            <a:avLst>
              <a:gd name="adj" fmla="val 10909"/>
            </a:avLst>
          </a:prstGeom>
          <a:solidFill>
            <a:srgbClr val="E0A8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어르신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281421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정보 접근성 향상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응급상황 조기 대응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외로움·고립 완화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68698" y="17830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3018" y="2057400"/>
            <a:ext cx="2905658" cy="502920"/>
          </a:xfrm>
          <a:prstGeom prst="roundRect">
            <a:avLst>
              <a:gd name="adj" fmla="val 10909"/>
            </a:avLst>
          </a:prstGeom>
          <a:solidFill>
            <a:srgbClr val="E0A8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43018" y="205740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사회복지사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88738" y="2743200"/>
            <a:ext cx="281421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징후 조기 파악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한정된 인력의 선택과 집중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방문 대상 식별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88757" y="17830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63077" y="2057400"/>
            <a:ext cx="2905658" cy="502920"/>
          </a:xfrm>
          <a:prstGeom prst="roundRect">
            <a:avLst>
              <a:gd name="adj" fmla="val 10909"/>
            </a:avLst>
          </a:prstGeom>
          <a:solidFill>
            <a:srgbClr val="E0A8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63077" y="205740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508797" y="2743200"/>
            <a:ext cx="281421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사각지대 축소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고독사 예방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저비용으로 확산 가능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“혼자가 아니라고 느끼게 하는 기술”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현황과 계획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4778" cy="1325880"/>
          </a:xfrm>
          <a:prstGeom prst="roundRect">
            <a:avLst>
              <a:gd name="adj" fmla="val 620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74520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대화 (RAG·에이전트)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53288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2E7D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532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51460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· 오늘 발표 핵심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3458" y="1691640"/>
            <a:ext cx="3484778" cy="1325880"/>
          </a:xfrm>
          <a:prstGeom prst="roundRect">
            <a:avLst>
              <a:gd name="adj" fmla="val 620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9490" y="192024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0949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13578" y="1874520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이상신호 감지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27778" y="253288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E0A8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27778" y="2532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770778" y="251460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구현·고도화 예정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8277" y="1691640"/>
            <a:ext cx="3484778" cy="1325880"/>
          </a:xfrm>
          <a:prstGeom prst="roundRect">
            <a:avLst>
              <a:gd name="adj" fmla="val 620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4309" y="192024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4309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18397" y="1874520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기능 융합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32597" y="253288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E0A8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32597" y="2532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575597" y="251460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예정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3484778" cy="1325880"/>
          </a:xfrm>
          <a:prstGeom prst="roundRect">
            <a:avLst>
              <a:gd name="adj" fmla="val 620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347472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4672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3429000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대화 (STT·TTS)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" y="408736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E0A83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0873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965960" y="406908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53458" y="3246120"/>
            <a:ext cx="3484778" cy="1325880"/>
          </a:xfrm>
          <a:prstGeom prst="roundRect">
            <a:avLst>
              <a:gd name="adj" fmla="val 620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09490" y="347472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0949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313578" y="3429000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(모바일·PWA)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627778" y="408736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2E7D4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627778" y="40873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770778" y="406908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58277" y="3246120"/>
            <a:ext cx="3484778" cy="1325880"/>
          </a:xfrm>
          <a:prstGeom prst="roundRect">
            <a:avLst>
              <a:gd name="adj" fmla="val 6207"/>
            </a:avLst>
          </a:prstGeom>
          <a:solidFill>
            <a:srgbClr val="F4F7FC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414309" y="3474720"/>
            <a:ext cx="548640" cy="548640"/>
          </a:xfrm>
          <a:prstGeom prst="ellipse">
            <a:avLst/>
          </a:prstGeom>
          <a:solidFill>
            <a:srgbClr val="0F2F6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414309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118397" y="3429000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· 실증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432597" y="408736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E0A83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432597" y="40873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575597" y="406908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 구축·현장 실증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89204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14400" y="489204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  </a:t>
            </a:r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고도화(Phase 3: 신청서 작성·알림 자동화) · 경로당 시범 운영 · 사람·LLM 평가 보강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정직한 평가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896112"/>
          </a:xfrm>
          <a:prstGeom prst="roundRect">
            <a:avLst>
              <a:gd name="adj" fmla="val 7143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12264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제작(held-out 미구성)·키워드 기반 → 사람·LLM 평가로 보강 예정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364328" cy="896112"/>
          </a:xfrm>
          <a:prstGeom prst="roundRect">
            <a:avLst>
              <a:gd name="adj" fmla="val 7143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52928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형식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63824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HWP 미지원 (현재 PDF로 대체)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64328" cy="896112"/>
          </a:xfrm>
          <a:prstGeom prst="roundRect">
            <a:avLst>
              <a:gd name="adj" fmla="val 7143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04488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안정성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15384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모델은 도구 선택·분해 불안정 → 실패 시 결정형 후퇴, 큰 모델이면 개선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8728" y="1691640"/>
            <a:ext cx="5364328" cy="896112"/>
          </a:xfrm>
          <a:prstGeom prst="roundRect">
            <a:avLst>
              <a:gd name="adj" fmla="val 7143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7328" y="1801368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실증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07328" y="2112264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어르신 대상 파일럿 필요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8728" y="2743200"/>
            <a:ext cx="5364328" cy="896112"/>
          </a:xfrm>
          <a:prstGeom prst="roundRect">
            <a:avLst>
              <a:gd name="adj" fmla="val 7143"/>
            </a:avLst>
          </a:prstGeom>
          <a:solidFill>
            <a:srgbClr val="0A2352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7328" y="2852928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하드웨어·속도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163824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허브 필요 → 저사양 최적화 과제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8728" y="3794760"/>
            <a:ext cx="5364328" cy="896112"/>
          </a:xfrm>
          <a:prstGeom prst="roundRect">
            <a:avLst>
              <a:gd name="adj" fmla="val 7143"/>
            </a:avLst>
          </a:prstGeom>
          <a:solidFill>
            <a:srgbClr val="E0A8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8728" y="3794760"/>
            <a:ext cx="5364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23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알고, 단계별 개선 계획이 있다 = 신뢰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4572000" cy="4572000"/>
          </a:xfrm>
          <a:prstGeom prst="ellipse">
            <a:avLst/>
          </a:prstGeom>
          <a:solidFill>
            <a:srgbClr val="EAF0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2F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감사합니다!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대전노인복지 HUB · 8조   민뚜쩌 · 박희재 · 오랑거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2026-09-10T14:36:39Z</dcterms:created>
  <dcterms:modified xsi:type="dcterms:W3CDTF">2026-09-10T14:36:39Z</dcterms:modified>
</cp:coreProperties>
</file>